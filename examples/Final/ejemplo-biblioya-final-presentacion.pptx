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Faro Software es una empresa inventada de cuatro personas. Este lienzo describe la empresa, no el producto.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Alternativa A. Todo duplicado donde una avería pararía el servicio: dos servidores con réplica, dos switches, SAI y copias en NAS.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Alternativa B. La aplicación en dos zonas de disponibilidad detrás de un balanceador, con base de datos gestionada multi-AZ.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Modelo propio: iteraciones de tres semanas que acaban en una demo al cliente; la especificación (historias y Gherkin) se mantiene al día en cada iteración.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A7BD5"/>
          </a:solidFill>
          <a:ln w="12700">
            <a:solidFill>
              <a:srgbClr val="3A7BD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2103120"/>
            <a:ext cx="10545775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1D21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— BiblioYa — Entrega final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3703320"/>
            <a:ext cx="1054577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de octubre de 2026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D21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Contenido</a:t>
            </a:r>
            <a:endParaRPr lang="en-US" sz="2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11277295" cy="914400"/>
        </p:xfrm>
        <a:graphic>
          <a:graphicData uri="http://schemas.openxmlformats.org/drawingml/2006/table">
            <a:tbl>
              <a:tblPr/>
              <a:tblGrid>
                <a:gridCol w="9814255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1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Definición de la empresa: nombre, marca, modelo de negocio y roles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C73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25 %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1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Descripción completa de las dos alternativas, con su arquitectura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C73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25 %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1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TCO a 3 años con costes completos y realistas de cada alternativa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C73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25 %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1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Recomendación razonada de la alternativa más adecuada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C73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25 %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1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Todos los diagramas UML: casos de uso con especificaciones, clases y secuencia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C73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60 %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1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Mapa de stakeholders (uno de los dos formatos, mínimo seis)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C73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1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Visión del proyecto según el modelo del "elevator pitch"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C73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1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Vuestro propio modelo de desarrollo: nombre, etapas, roles, elementos clave, ventajas e inconvenientes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C73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1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Backlog completo a nivel de épica, y una épica en historias de usuario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C73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1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PUD: Gantt, etapas con sus artefactos, actas e informe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C73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1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Elementos previos corregidos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C73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1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Acta post mortem: qué ha funcionado y qué mejoraríais (equipo y PUD)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C73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1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Informe "¿y con metodología ágil?" y su acta (bien / mal / mejorable)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C73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1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 Story Mapping de los dos primeros sprints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C73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1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Todas las épicas del componente en historias con Gherkin, y el material para generar y probar la app con 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C73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57200" y="6400800"/>
            <a:ext cx="11277295" cy="0"/>
          </a:xfrm>
          <a:prstGeom prst="line">
            <a:avLst/>
          </a:prstGeom>
          <a:noFill/>
          <a:ln w="9525">
            <a:solidFill>
              <a:srgbClr val="DDE1E5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6446520"/>
            <a:ext cx="9905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— BiblioYa — Entrega final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0362895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20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7295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D21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E1 · Modelo de negocio — Faro Software</a:t>
            </a:r>
            <a:endParaRPr lang="en-US" sz="2600" dirty="0"/>
          </a:p>
        </p:txBody>
      </p:sp>
      <p:pic>
        <p:nvPicPr>
          <p:cNvPr id="3" name="Image 0" descr="E1 · Modelo de negocio — Faro Softwa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08043" y="1097280"/>
            <a:ext cx="7575610" cy="51663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6400800"/>
            <a:ext cx="11277295" cy="0"/>
          </a:xfrm>
          <a:prstGeom prst="line">
            <a:avLst/>
          </a:prstGeom>
          <a:noFill/>
          <a:ln w="9525">
            <a:solidFill>
              <a:srgbClr val="DDE1E5"/>
            </a:solidFill>
            <a:prstDash val="solid"/>
          </a:ln>
        </p:spPr>
      </p:sp>
      <p:sp>
        <p:nvSpPr>
          <p:cNvPr id="6" name="Text 2"/>
          <p:cNvSpPr/>
          <p:nvPr/>
        </p:nvSpPr>
        <p:spPr>
          <a:xfrm>
            <a:off x="457200" y="6446520"/>
            <a:ext cx="9905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Lienzo de modelo de negocio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10362895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20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7295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D21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E1 · Organigrama y roles</a:t>
            </a:r>
            <a:endParaRPr lang="en-US" sz="2600" dirty="0"/>
          </a:p>
        </p:txBody>
      </p:sp>
      <p:pic>
        <p:nvPicPr>
          <p:cNvPr id="3" name="Image 0" descr="E1 · Organigrama y rol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7236" y="1097280"/>
            <a:ext cx="11037224" cy="51663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6400800"/>
            <a:ext cx="11277295" cy="0"/>
          </a:xfrm>
          <a:prstGeom prst="line">
            <a:avLst/>
          </a:prstGeom>
          <a:noFill/>
          <a:ln w="9525">
            <a:solidFill>
              <a:srgbClr val="DDE1E5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6446520"/>
            <a:ext cx="9905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Organigrama y roles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0362895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20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7295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D21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E1 · Arquitectura — local</a:t>
            </a:r>
            <a:endParaRPr lang="en-US" sz="2600" dirty="0"/>
          </a:p>
        </p:txBody>
      </p:sp>
      <p:pic>
        <p:nvPicPr>
          <p:cNvPr id="3" name="Image 0" descr="E1 · Arquitectura — loc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24800" y="1097280"/>
            <a:ext cx="5542095" cy="51663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6400800"/>
            <a:ext cx="11277295" cy="0"/>
          </a:xfrm>
          <a:prstGeom prst="line">
            <a:avLst/>
          </a:prstGeom>
          <a:noFill/>
          <a:ln w="9525">
            <a:solidFill>
              <a:srgbClr val="DDE1E5"/>
            </a:solidFill>
            <a:prstDash val="solid"/>
          </a:ln>
        </p:spPr>
      </p:sp>
      <p:sp>
        <p:nvSpPr>
          <p:cNvPr id="6" name="Text 2"/>
          <p:cNvSpPr/>
          <p:nvPr/>
        </p:nvSpPr>
        <p:spPr>
          <a:xfrm>
            <a:off x="457200" y="6446520"/>
            <a:ext cx="9905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de arquitectura / equipos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10362895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20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7295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D21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E1 · Arquitectura — nube</a:t>
            </a:r>
            <a:endParaRPr lang="en-US" sz="2600" dirty="0"/>
          </a:p>
        </p:txBody>
      </p:sp>
      <p:pic>
        <p:nvPicPr>
          <p:cNvPr id="3" name="Image 0" descr="E1 · Arquitectura — nub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39668"/>
            <a:ext cx="11277295" cy="4481584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6400800"/>
            <a:ext cx="11277295" cy="0"/>
          </a:xfrm>
          <a:prstGeom prst="line">
            <a:avLst/>
          </a:prstGeom>
          <a:noFill/>
          <a:ln w="9525">
            <a:solidFill>
              <a:srgbClr val="DDE1E5"/>
            </a:solidFill>
            <a:prstDash val="solid"/>
          </a:ln>
        </p:spPr>
      </p:sp>
      <p:sp>
        <p:nvSpPr>
          <p:cNvPr id="6" name="Text 2"/>
          <p:cNvSpPr/>
          <p:nvPr/>
        </p:nvSpPr>
        <p:spPr>
          <a:xfrm>
            <a:off x="457200" y="6446520"/>
            <a:ext cx="9905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de arquitectura / equipos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10362895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20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7295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D21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E1 · TCO a 3 años</a:t>
            </a:r>
            <a:endParaRPr lang="en-US" sz="2600" dirty="0"/>
          </a:p>
        </p:txBody>
      </p:sp>
      <p:pic>
        <p:nvPicPr>
          <p:cNvPr id="3" name="Image 0" descr="E1 · TCO a 3 añ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14072" y="1097280"/>
            <a:ext cx="2763552" cy="51663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6400800"/>
            <a:ext cx="11277295" cy="0"/>
          </a:xfrm>
          <a:prstGeom prst="line">
            <a:avLst/>
          </a:prstGeom>
          <a:noFill/>
          <a:ln w="9525">
            <a:solidFill>
              <a:srgbClr val="DDE1E5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6446520"/>
            <a:ext cx="9905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TCO (coste total de propiedad)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0362895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20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7295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D21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 · Casos de uso</a:t>
            </a:r>
            <a:endParaRPr lang="en-US" sz="2600" dirty="0"/>
          </a:p>
        </p:txBody>
      </p:sp>
      <p:pic>
        <p:nvPicPr>
          <p:cNvPr id="3" name="Image 0" descr="E2 · Casos de us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38054" y="1097280"/>
            <a:ext cx="8515586" cy="51663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6400800"/>
            <a:ext cx="11277295" cy="0"/>
          </a:xfrm>
          <a:prstGeom prst="line">
            <a:avLst/>
          </a:prstGeom>
          <a:noFill/>
          <a:ln w="9525">
            <a:solidFill>
              <a:srgbClr val="DDE1E5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6446520"/>
            <a:ext cx="9905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de sistema / casos de uso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0362895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20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7295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D21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 · Diagrama de clases de diseño</a:t>
            </a:r>
            <a:endParaRPr lang="en-US" sz="2600" dirty="0"/>
          </a:p>
        </p:txBody>
      </p:sp>
      <p:pic>
        <p:nvPicPr>
          <p:cNvPr id="3" name="Image 0" descr="E2 · Diagrama de clases de diseñ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4950" y="1097280"/>
            <a:ext cx="10421795" cy="51663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6400800"/>
            <a:ext cx="11277295" cy="0"/>
          </a:xfrm>
          <a:prstGeom prst="line">
            <a:avLst/>
          </a:prstGeom>
          <a:noFill/>
          <a:ln w="9525">
            <a:solidFill>
              <a:srgbClr val="DDE1E5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6446520"/>
            <a:ext cx="9905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de clases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0362895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20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7295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D21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 · Secuencia — Reservar libro</a:t>
            </a:r>
            <a:endParaRPr lang="en-US" sz="2600" dirty="0"/>
          </a:p>
        </p:txBody>
      </p:sp>
      <p:pic>
        <p:nvPicPr>
          <p:cNvPr id="3" name="Image 0" descr="E2 · Secuencia — Reservar libr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54111" y="1097280"/>
            <a:ext cx="7683474" cy="51663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6400800"/>
            <a:ext cx="11277295" cy="0"/>
          </a:xfrm>
          <a:prstGeom prst="line">
            <a:avLst/>
          </a:prstGeom>
          <a:noFill/>
          <a:ln w="9525">
            <a:solidFill>
              <a:srgbClr val="DDE1E5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6446520"/>
            <a:ext cx="9905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de secuencia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0362895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7295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D21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 · Mapa de stakeholders</a:t>
            </a:r>
            <a:endParaRPr lang="en-US" sz="2600" dirty="0"/>
          </a:p>
        </p:txBody>
      </p:sp>
      <p:pic>
        <p:nvPicPr>
          <p:cNvPr id="3" name="Image 0" descr="E2 · Mapa de stakeholde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10991" y="1097280"/>
            <a:ext cx="6769713" cy="51663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6400800"/>
            <a:ext cx="11277295" cy="0"/>
          </a:xfrm>
          <a:prstGeom prst="line">
            <a:avLst/>
          </a:prstGeom>
          <a:noFill/>
          <a:ln w="9525">
            <a:solidFill>
              <a:srgbClr val="DDE1E5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6446520"/>
            <a:ext cx="9905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de stakeholders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0362895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20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7295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D21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 · Visión — elevator pitch</a:t>
            </a:r>
            <a:endParaRPr lang="en-US" sz="2600" dirty="0"/>
          </a:p>
        </p:txBody>
      </p:sp>
      <p:pic>
        <p:nvPicPr>
          <p:cNvPr id="3" name="Image 0" descr="E2 · Visión — elevator pit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76276" y="1097280"/>
            <a:ext cx="5439144" cy="51663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6400800"/>
            <a:ext cx="11277295" cy="0"/>
          </a:xfrm>
          <a:prstGeom prst="line">
            <a:avLst/>
          </a:prstGeom>
          <a:noFill/>
          <a:ln w="9525">
            <a:solidFill>
              <a:srgbClr val="DDE1E5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6446520"/>
            <a:ext cx="9905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Visión — elevator pitch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0362895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20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7295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D21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E3 · Modelo de desarrollo Faro</a:t>
            </a:r>
            <a:endParaRPr lang="en-US" sz="2600" dirty="0"/>
          </a:p>
        </p:txBody>
      </p:sp>
      <p:pic>
        <p:nvPicPr>
          <p:cNvPr id="3" name="Image 0" descr="E3 · Modelo de desarrollo Far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06327" y="1097280"/>
            <a:ext cx="2617688" cy="51663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097280"/>
            <a:ext cx="5272888" cy="5166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D21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propio: iteraciones de tres semanas que acaban en una demo al cliente; la especificación (historias y Gherkin) se mantiene al día en cada iteración.</a:t>
            </a:r>
            <a:endParaRPr lang="en-US" sz="1600" dirty="0"/>
          </a:p>
        </p:txBody>
      </p:sp>
      <p:sp>
        <p:nvSpPr>
          <p:cNvPr id="6" name="Shape 2"/>
          <p:cNvSpPr/>
          <p:nvPr/>
        </p:nvSpPr>
        <p:spPr>
          <a:xfrm>
            <a:off x="457200" y="6400800"/>
            <a:ext cx="11277295" cy="0"/>
          </a:xfrm>
          <a:prstGeom prst="line">
            <a:avLst/>
          </a:prstGeom>
          <a:noFill/>
          <a:ln w="9525">
            <a:solidFill>
              <a:srgbClr val="DDE1E5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457200" y="6446520"/>
            <a:ext cx="9905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de flujo / modelo de proceso</a:t>
            </a:r>
            <a:endParaRPr lang="en-US" sz="1000" dirty="0"/>
          </a:p>
        </p:txBody>
      </p:sp>
      <p:sp>
        <p:nvSpPr>
          <p:cNvPr id="8" name="Text 4"/>
          <p:cNvSpPr/>
          <p:nvPr/>
        </p:nvSpPr>
        <p:spPr>
          <a:xfrm>
            <a:off x="10362895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20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7295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D21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E3 · Backlog de producto</a:t>
            </a:r>
            <a:endParaRPr lang="en-US" sz="2600" dirty="0"/>
          </a:p>
        </p:txBody>
      </p:sp>
      <p:pic>
        <p:nvPicPr>
          <p:cNvPr id="3" name="Image 0" descr="E3 · Backlog de product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91674" y="1097280"/>
            <a:ext cx="2208348" cy="51663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6400800"/>
            <a:ext cx="11277295" cy="0"/>
          </a:xfrm>
          <a:prstGeom prst="line">
            <a:avLst/>
          </a:prstGeom>
          <a:noFill/>
          <a:ln w="9525">
            <a:solidFill>
              <a:srgbClr val="DDE1E5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6446520"/>
            <a:ext cx="9905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de producto (épicas e historias)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0362895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20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7295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D21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E3 · Planificación PUD</a:t>
            </a:r>
            <a:endParaRPr lang="en-US" sz="2600" dirty="0"/>
          </a:p>
        </p:txBody>
      </p:sp>
      <p:pic>
        <p:nvPicPr>
          <p:cNvPr id="3" name="Image 0" descr="E3 · Planificación PU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942677"/>
            <a:ext cx="11277295" cy="3475565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6400800"/>
            <a:ext cx="11277295" cy="0"/>
          </a:xfrm>
          <a:prstGeom prst="line">
            <a:avLst/>
          </a:prstGeom>
          <a:noFill/>
          <a:ln w="9525">
            <a:solidFill>
              <a:srgbClr val="DDE1E5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6446520"/>
            <a:ext cx="9905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de Gantt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0362895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20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7295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D21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E3 · Proceso Unificado — fases y artefactos</a:t>
            </a:r>
            <a:endParaRPr lang="en-US" sz="2600" dirty="0"/>
          </a:p>
        </p:txBody>
      </p:sp>
      <p:pic>
        <p:nvPicPr>
          <p:cNvPr id="3" name="Image 0" descr="E3 · Proceso Unificado — fases y artefact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12668" y="1097280"/>
            <a:ext cx="5166360" cy="51663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6400800"/>
            <a:ext cx="11277295" cy="0"/>
          </a:xfrm>
          <a:prstGeom prst="line">
            <a:avLst/>
          </a:prstGeom>
          <a:noFill/>
          <a:ln w="9525">
            <a:solidFill>
              <a:srgbClr val="DDE1E5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6446520"/>
            <a:ext cx="9905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 Unificado (fases y artefactos)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0362895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20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7295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D21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E3 · Acta 1 — reunión con el cliente</a:t>
            </a:r>
            <a:endParaRPr lang="en-US" sz="2600" dirty="0"/>
          </a:p>
        </p:txBody>
      </p:sp>
      <p:pic>
        <p:nvPicPr>
          <p:cNvPr id="3" name="Image 0" descr="E3 · Acta 1 — reunión con el clien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78802" y="1097280"/>
            <a:ext cx="2034091" cy="51663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6400800"/>
            <a:ext cx="11277295" cy="0"/>
          </a:xfrm>
          <a:prstGeom prst="line">
            <a:avLst/>
          </a:prstGeom>
          <a:noFill/>
          <a:ln w="9525">
            <a:solidFill>
              <a:srgbClr val="DDE1E5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6446520"/>
            <a:ext cx="9905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Acta de reunión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0362895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20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7295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D21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· Acta post mortem</a:t>
            </a:r>
            <a:endParaRPr lang="en-US" sz="2600" dirty="0"/>
          </a:p>
        </p:txBody>
      </p:sp>
      <p:pic>
        <p:nvPicPr>
          <p:cNvPr id="3" name="Image 0" descr="Final · Acta post morte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13225" y="1097280"/>
            <a:ext cx="2165245" cy="51663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6400800"/>
            <a:ext cx="11277295" cy="0"/>
          </a:xfrm>
          <a:prstGeom prst="line">
            <a:avLst/>
          </a:prstGeom>
          <a:noFill/>
          <a:ln w="9525">
            <a:solidFill>
              <a:srgbClr val="DDE1E5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6446520"/>
            <a:ext cx="9905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Acta de reunión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0362895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20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7295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D21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· Acta — ¿y con metodología ágil?</a:t>
            </a:r>
            <a:endParaRPr lang="en-US" sz="2600" dirty="0"/>
          </a:p>
        </p:txBody>
      </p:sp>
      <p:pic>
        <p:nvPicPr>
          <p:cNvPr id="3" name="Image 0" descr="Final · Acta — ¿y con metodología ágil?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72308" y="1097280"/>
            <a:ext cx="2247079" cy="51663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6400800"/>
            <a:ext cx="11277295" cy="0"/>
          </a:xfrm>
          <a:prstGeom prst="line">
            <a:avLst/>
          </a:prstGeom>
          <a:noFill/>
          <a:ln w="9525">
            <a:solidFill>
              <a:srgbClr val="DDE1E5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6446520"/>
            <a:ext cx="9905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Acta de reunión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0362895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20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7295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D21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· User Story Mapping — sprints 1 y 2</a:t>
            </a:r>
            <a:endParaRPr lang="en-US" sz="2600" dirty="0"/>
          </a:p>
        </p:txBody>
      </p:sp>
      <p:pic>
        <p:nvPicPr>
          <p:cNvPr id="3" name="Image 0" descr="Final · User Story Mapping — sprints 1 y 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065030"/>
            <a:ext cx="11277295" cy="3230859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6400800"/>
            <a:ext cx="11277295" cy="0"/>
          </a:xfrm>
          <a:prstGeom prst="line">
            <a:avLst/>
          </a:prstGeom>
          <a:noFill/>
          <a:ln w="9525">
            <a:solidFill>
              <a:srgbClr val="DDE1E5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6446520"/>
            <a:ext cx="9905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Story Mapping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0362895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Ejemplo — BiblioYa — Entrega final</dc:title>
  <dc:subject>PptxGenJS Presentation</dc:subject>
  <dc:creator>se-ramify</dc:creator>
  <cp:lastModifiedBy>se-ramify</cp:lastModifiedBy>
  <cp:revision>1</cp:revision>
  <dcterms:created xsi:type="dcterms:W3CDTF">2026-10-20T12:52:23Z</dcterms:created>
  <dcterms:modified xsi:type="dcterms:W3CDTF">2026-10-20T12:52:23Z</dcterms:modified>
</cp:coreProperties>
</file>